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914400"/>
            <a:ext cx="5029200" cy="4572000"/>
          </a:xfrm>
          <a:prstGeom prst="rect">
            <a:avLst/>
          </a:prstGeom>
          <a:solidFill>
            <a:srgbClr val="25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Segoe UI"/>
              </a:rPr>
              <a:t>REDROB AI HACKATHON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Segoe UI"/>
              </a:rPr>
              <a:t>SkillGraph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1A1AA"/>
                </a:solidFill>
                <a:latin typeface="Segoe UI"/>
              </a:rPr>
              <a:t>Intelligent Candidate Discovery &amp; Ranking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1A1AA"/>
                </a:solidFill>
                <a:latin typeface="Segoe UI"/>
              </a:rPr>
              <a:t>A 7-layer hybrid AI pipeline that scores 100,000+ candidates
with semantic matching, behavioral signals &amp; career growth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78BFA"/>
                </a:solidFill>
                <a:latin typeface="Segoe UI"/>
              </a:rPr>
              <a:t>100K+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875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2525B"/>
                </a:solidFill>
                <a:latin typeface="Segoe UI"/>
              </a:rPr>
              <a:t>Candidates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5303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78BFA"/>
                </a:solidFill>
                <a:latin typeface="Segoe U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56875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2525B"/>
                </a:solidFill>
                <a:latin typeface="Segoe UI"/>
              </a:rPr>
              <a:t>Ranking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5303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78BFA"/>
                </a:solidFill>
                <a:latin typeface="Segoe UI"/>
              </a:rPr>
              <a:t>&lt;50ms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56875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2525B"/>
                </a:solidFill>
                <a:latin typeface="Segoe UI"/>
              </a:rPr>
              <a:t>Query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78BFA"/>
                </a:solidFill>
                <a:latin typeface="Segoe UI"/>
              </a:rPr>
              <a:t>0.04×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56875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2525B"/>
                </a:solidFill>
                <a:latin typeface="Segoe UI"/>
              </a:rPr>
              <a:t>Honeypot penalty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36576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017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1A1AA"/>
                </a:solidFill>
                <a:latin typeface="Segoe UI"/>
              </a:rPr>
              <a:t>SKILLGRAPH AI · REDROB 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1A1AA"/>
                </a:solidFill>
                <a:latin typeface="Segoe UI"/>
              </a:rPr>
              <a:t>Traditional hiring pipelines miss 60–80% of qualified candidates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03520" cy="173736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6576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5740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4E4E7"/>
                </a:solidFill>
                <a:latin typeface="Segoe UI"/>
              </a:rPr>
              <a:t>Keyword Matching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68880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  <a:latin typeface="Segoe UI"/>
              </a:rPr>
              <a:t>Boolean filters reject qualified candidates who use different terminology for the same skill.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920240"/>
            <a:ext cx="5303520" cy="173736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920240"/>
            <a:ext cx="36576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205740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4E4E7"/>
                </a:solidFill>
                <a:latin typeface="Segoe UI"/>
              </a:rPr>
              <a:t>Honeypot Pollution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468880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  <a:latin typeface="Segoe UI"/>
              </a:rPr>
              <a:t>Keyword-stuffed resumes and consulting-farm profiles inflate the apparent pool size.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40480"/>
            <a:ext cx="5303520" cy="173736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36576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97764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4E4E7"/>
                </a:solidFill>
                <a:latin typeface="Segoe UI"/>
              </a:rPr>
              <a:t>Manual Review at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389120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  <a:latin typeface="Segoe UI"/>
              </a:rPr>
              <a:t>A recruiter can review ~60 profiles/day. At 100,000 applicants, that's 1,600 working days.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840480"/>
            <a:ext cx="5303520" cy="173736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840480"/>
            <a:ext cx="36576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397764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4E4E7"/>
                </a:solidFill>
                <a:latin typeface="Segoe UI"/>
              </a:rPr>
              <a:t>Hidden Gems Lost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4389120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  <a:latin typeface="Segoe UI"/>
              </a:rPr>
              <a:t>High-fit candidates with low online visibility are never contacted — wasted pipeline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36576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017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1A1AA"/>
                </a:solidFill>
                <a:latin typeface="Segoe UI"/>
              </a:rPr>
              <a:t>SKILLGRAPH AI · REDROB 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1A1AA"/>
                </a:solidFill>
                <a:latin typeface="Segoe UI"/>
              </a:rPr>
              <a:t>SkillGraph: A 7-layer hybrid AI ranking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64240" cy="502920"/>
          </a:xfrm>
          <a:prstGeom prst="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0195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Segoe UI"/>
              </a:rPr>
              <a:t>1  JD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901952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1A1AA"/>
                </a:solidFill>
                <a:latin typeface="Segoe UI"/>
              </a:rPr>
              <a:t>Detects impossible timelines, skill overload, contradictions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4872"/>
            <a:ext cx="11064240" cy="502920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7802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4E4E7"/>
                </a:solidFill>
                <a:latin typeface="Segoe UI"/>
              </a:rPr>
              <a:t>2  BM25 Lexical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478024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1A1AA"/>
                </a:solidFill>
                <a:latin typeface="Segoe UI"/>
              </a:rPr>
              <a:t>Fast token-level keyword matching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80944"/>
            <a:ext cx="11064240" cy="502920"/>
          </a:xfrm>
          <a:prstGeom prst="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5409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Segoe UI"/>
              </a:rPr>
              <a:t>3  SBERT Semantic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054096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1A1AA"/>
                </a:solidFill>
                <a:latin typeface="Segoe UI"/>
              </a:rPr>
              <a:t>384-dim sentence embeddings for skill equivalence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57016"/>
            <a:ext cx="11064240" cy="502920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6301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4E4E7"/>
                </a:solidFill>
                <a:latin typeface="Segoe UI"/>
              </a:rPr>
              <a:t>4 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63016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1A1AA"/>
                </a:solidFill>
                <a:latin typeface="Segoe UI"/>
              </a:rPr>
              <a:t>Years curve with AI/ML-specific weighting (peak at 7yr)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33088"/>
            <a:ext cx="11064240" cy="502920"/>
          </a:xfrm>
          <a:prstGeom prst="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06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Segoe UI"/>
              </a:rPr>
              <a:t>5  Project Depth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20624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1A1AA"/>
                </a:solidFill>
                <a:latin typeface="Segoe UI"/>
              </a:rPr>
              <a:t>Production ML, stack complexity, open-source contributions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09160"/>
            <a:ext cx="11064240" cy="502920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7823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Segoe UI"/>
              </a:rPr>
              <a:t>6  Behavior Signals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782312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1A1AA"/>
                </a:solidFill>
                <a:latin typeface="Segoe UI"/>
              </a:rPr>
              <a:t>Redrob: response rate, availability, notice period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285232"/>
            <a:ext cx="11064240" cy="502920"/>
          </a:xfrm>
          <a:prstGeom prst="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35838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Segoe UI"/>
              </a:rPr>
              <a:t>7  Career Growth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5358384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1A1AA"/>
                </a:solidFill>
                <a:latin typeface="Segoe UI"/>
              </a:rPr>
              <a:t>Seniority trajectory — IC vs consulting path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36576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017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1A1AA"/>
                </a:solidFill>
                <a:latin typeface="Segoe UI"/>
              </a:rPr>
              <a:t>SKILLGRAPH AI · REDROB 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1A1AA"/>
                </a:solidFill>
                <a:latin typeface="Segoe UI"/>
              </a:rPr>
              <a:t>End-to-end inference pipeline + real-time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3474720" cy="420624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116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Segoe UI"/>
              </a:rPr>
              <a:t>Data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candidates.jsonl (100K)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submission.csv (top-100 ranked)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260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JD YAML 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39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technology_timeline.yaml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874519"/>
            <a:ext cx="3474720" cy="420624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0116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Segoe UI"/>
              </a:rPr>
              <a:t>AI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774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Job Understanding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517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BM25 + SBERT dual-encoder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9260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7-layer scorer + penalties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20039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Hidden Gem detector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1874519"/>
            <a:ext cx="3474720" cy="420624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20116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Segoe UI"/>
              </a:rPr>
              <a:t>API + 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3774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FastAPI (15 endpoints)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6517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React + TypeScript + Vite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9260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Recharts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20039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Real-time AI Copilot chat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3749039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2525B"/>
                </a:solidFill>
                <a:latin typeface="Segoe U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749039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2525B"/>
                </a:solidFill>
                <a:latin typeface="Segoe UI"/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36576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017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1A1AA"/>
                </a:solidFill>
                <a:latin typeface="Segoe UI"/>
              </a:rPr>
              <a:t>SKILLGRAPH AI · REDROB 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Scoring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1A1AA"/>
                </a:solidFill>
                <a:latin typeface="Segoe UI"/>
              </a:rPr>
              <a:t>Weighted composite across 8 dimensions with multiplicative penalties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84247"/>
            <a:ext cx="5120640" cy="2560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929383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4E4E7"/>
                </a:solidFill>
                <a:latin typeface="Segoe UI"/>
              </a:rPr>
              <a:t>Projects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79008" y="1929383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Segoe UI"/>
              </a:rPr>
              <a:t>28%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59735"/>
            <a:ext cx="402336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40487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4E4E7"/>
                </a:solidFill>
                <a:latin typeface="Segoe UI"/>
              </a:rPr>
              <a:t>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404871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Segoe UI"/>
              </a:rPr>
              <a:t>22%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35223"/>
            <a:ext cx="365760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88035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4E4E7"/>
                </a:solidFill>
                <a:latin typeface="Segoe UI"/>
              </a:rPr>
              <a:t>Semantic 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880359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Segoe UI"/>
              </a:rPr>
              <a:t>20%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10711"/>
            <a:ext cx="219456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355847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4E4E7"/>
                </a:solidFill>
                <a:latin typeface="Segoe UI"/>
              </a:rPr>
              <a:t>Domain 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8" y="3355847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Segoe UI"/>
              </a:rPr>
              <a:t>12%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86199"/>
            <a:ext cx="1463040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831335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4E4E7"/>
                </a:solidFill>
                <a:latin typeface="Segoe UI"/>
              </a:rPr>
              <a:t>Behavior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21408" y="3831335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Segoe UI"/>
              </a:rPr>
              <a:t>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61687"/>
            <a:ext cx="914400" cy="2560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306823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4E4E7"/>
                </a:solidFill>
                <a:latin typeface="Segoe UI"/>
              </a:rPr>
              <a:t>Career 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306823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Segoe UI"/>
              </a:rPr>
              <a:t>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37175"/>
            <a:ext cx="548640" cy="25603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478231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4E4E7"/>
                </a:solidFill>
                <a:latin typeface="Segoe UI"/>
              </a:rPr>
              <a:t>Education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4782311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1A1AA"/>
                </a:solidFill>
                <a:latin typeface="Segoe UI"/>
              </a:rPr>
              <a:t>3%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12663"/>
            <a:ext cx="365760" cy="25603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25779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4E4E7"/>
                </a:solidFill>
                <a:latin typeface="Segoe UI"/>
              </a:rPr>
              <a:t>Certifications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5257799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1A1AA"/>
                </a:solidFill>
                <a:latin typeface="Segoe UI"/>
              </a:rPr>
              <a:t>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1874519"/>
            <a:ext cx="5120640" cy="2286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201167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3F5E"/>
                </a:solidFill>
                <a:latin typeface="Segoe UI"/>
              </a:rPr>
              <a:t>Multiplicative Penalties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37743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Consulting-only career  ×0.40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265175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Honeypot profile         ×0.04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292607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Keyword stuffer          ×0.55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20039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Applied after weighted sum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4343400"/>
            <a:ext cx="5120640" cy="164592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44805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Segoe UI"/>
              </a:rPr>
              <a:t>Hidden Gem Criteria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846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Score ≥ 0.63 + Career growth ≥ 0.70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51206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Low recruiter contact OR open_to_work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5394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Rank &gt; 20 (overlooked by recruiters)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36576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017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1A1AA"/>
                </a:solidFill>
                <a:latin typeface="Segoe UI"/>
              </a:rPr>
              <a:t>SKILLGRAPH AI · REDROB 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JD Intelligence Validator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1A1AA"/>
                </a:solidFill>
                <a:latin typeface="Segoe UI"/>
              </a:rPr>
              <a:t>Catches impossible requirements before you post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303520" cy="118872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6576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2024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Segoe UI"/>
              </a:rPr>
              <a:t>Timeline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8600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1A1AA"/>
                </a:solidFill>
                <a:latin typeface="Segoe UI"/>
              </a:rPr>
              <a:t>Detects requests like '10yr Kubernetes exp' (impossible — released 2014 → max 11yr)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5303520" cy="118872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36576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92024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Segoe UI"/>
              </a:rPr>
              <a:t>Contradiction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28600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1A1AA"/>
                </a:solidFill>
                <a:latin typeface="Segoe UI"/>
              </a:rPr>
              <a:t>Flags conflicting signals: 'remote-only' + 'daily office standup required'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82112"/>
            <a:ext cx="5303520" cy="118872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182112"/>
            <a:ext cx="36576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27355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Segoe UI"/>
              </a:rPr>
              <a:t>Skill Overload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639312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1A1AA"/>
                </a:solidFill>
                <a:latin typeface="Segoe UI"/>
              </a:rPr>
              <a:t>Quantifies complexity → talent availability estimate → suggests priority vs optional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182112"/>
            <a:ext cx="5303520" cy="118872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182112"/>
            <a:ext cx="36576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327355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Segoe UI"/>
              </a:rPr>
              <a:t>Missing Requirements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3639312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1A1AA"/>
                </a:solidFill>
                <a:latin typeface="Segoe UI"/>
              </a:rPr>
              <a:t>Identifies absent JD fields that reduce match quality (comp range, notice period, growth path)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535424"/>
            <a:ext cx="5303520" cy="118872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535424"/>
            <a:ext cx="36576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62686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Segoe UI"/>
              </a:rPr>
              <a:t>Transferable Mapping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992624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1A1AA"/>
                </a:solidFill>
                <a:latin typeface="Segoe UI"/>
              </a:rPr>
              <a:t>Maps non-standard skill names to canonical equivalents — reduces false negatives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535424"/>
            <a:ext cx="5303520" cy="118872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4535424"/>
            <a:ext cx="36576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462686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Segoe UI"/>
              </a:rPr>
              <a:t>JD Quality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4992624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1A1AA"/>
                </a:solidFill>
                <a:latin typeface="Segoe UI"/>
              </a:rPr>
              <a:t>0–1 composite score with actionable improvements applied to corrected JD profile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36576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017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1A1AA"/>
                </a:solidFill>
                <a:latin typeface="Segoe UI"/>
              </a:rPr>
              <a:t>SKILLGRAPH AI · REDROB 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Pipeline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1A1AA"/>
                </a:solidFill>
                <a:latin typeface="Segoe UI"/>
              </a:rPr>
              <a:t>From 100,000 candidates to interview-ready shortlist in 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560320" cy="13716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100K+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1A1AA"/>
                </a:solidFill>
                <a:latin typeface="Segoe UI"/>
              </a:rPr>
              <a:t>Total screened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828800"/>
            <a:ext cx="2560320" cy="13716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1920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Segoe U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2423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1A1AA"/>
                </a:solidFill>
                <a:latin typeface="Segoe UI"/>
              </a:rPr>
              <a:t>Interview-ready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71616" y="1828800"/>
            <a:ext cx="2560320" cy="13716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71616" y="1920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  <a:latin typeface="Segoe UI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71616" y="2423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1A1AA"/>
                </a:solidFill>
                <a:latin typeface="Segoe UI"/>
              </a:rPr>
              <a:t>Hidden gems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33104" y="1828800"/>
            <a:ext cx="2560320" cy="13716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3104" y="1920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43F5E"/>
                </a:solidFill>
                <a:latin typeface="Segoe UI"/>
              </a:rPr>
              <a:t>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2423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1A1AA"/>
                </a:solidFill>
                <a:latin typeface="Segoe UI"/>
              </a:rPr>
              <a:t>Honeypots caught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74720"/>
            <a:ext cx="4114800" cy="347472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36576" cy="347472"/>
          </a:xfrm>
          <a:prstGeom prst="rect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51129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2525B"/>
                </a:solidFill>
                <a:latin typeface="Segoe UI"/>
              </a:rPr>
              <a:t>100,000  Raw candidates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13632"/>
            <a:ext cx="3749039" cy="347472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913632"/>
            <a:ext cx="36576" cy="34747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1A1AA"/>
                </a:solidFill>
                <a:latin typeface="Segoe UI"/>
              </a:rPr>
              <a:t>  ~8,500  Qualified (score &gt; 0.4)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352544"/>
            <a:ext cx="3383280" cy="347472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352544"/>
            <a:ext cx="36576" cy="347472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3891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4E4E7"/>
                </a:solidFill>
                <a:latin typeface="Segoe UI"/>
              </a:rPr>
              <a:t>  ~1,200  Strong fit (score &gt; 0.55)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791456"/>
            <a:ext cx="3017520" cy="347472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791456"/>
            <a:ext cx="36576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82803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0B981"/>
                </a:solidFill>
                <a:latin typeface="Segoe UI"/>
              </a:rPr>
              <a:t>     ~12  Interview-ready (≥ 0.70)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230368"/>
            <a:ext cx="2651760" cy="347472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230368"/>
            <a:ext cx="36576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26694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59E0B"/>
                </a:solidFill>
                <a:latin typeface="Segoe UI"/>
              </a:rPr>
              <a:t>       7  Hidden gems discovered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3383280"/>
            <a:ext cx="5120640" cy="301752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35204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Segoe UI"/>
              </a:rPr>
              <a:t>Top Candidate Profile (Rank #1)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8862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Score: 0.847 (97th percentile)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41605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7.2yr total · 5.4yr AI/ML specific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434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Production ML deployments: 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7091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Projects: 0.91 · Semantic: 0.83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4983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Notice period: 15 days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5257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Open to work · High response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36576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017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1A1AA"/>
                </a:solidFill>
                <a:latin typeface="Segoe UI"/>
              </a:rPr>
              <a:t>SKILLGRAPH AI · REDROB 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1A1AA"/>
                </a:solidFill>
                <a:latin typeface="Segoe UI"/>
              </a:rPr>
              <a:t>Natural 4-minute walkthrough of the recruiter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5120640" cy="65836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36576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20823"/>
            <a:ext cx="347472" cy="347472"/>
          </a:xfrm>
          <a:prstGeom prst="rect">
            <a:avLst/>
          </a:prstGeom>
          <a:solidFill>
            <a:srgbClr val="25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93391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78BFA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29383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Landing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221991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1A1AA"/>
                </a:solidFill>
                <a:latin typeface="Segoe UI"/>
              </a:rPr>
              <a:t>Choose Recruiter or Candidate portal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874519"/>
            <a:ext cx="5120640" cy="65836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874519"/>
            <a:ext cx="36576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020823"/>
            <a:ext cx="347472" cy="347472"/>
          </a:xfrm>
          <a:prstGeom prst="rect">
            <a:avLst/>
          </a:prstGeom>
          <a:solidFill>
            <a:srgbClr val="25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93391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78BFA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929383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JD Validator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221991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1A1AA"/>
                </a:solidFill>
                <a:latin typeface="Segoe UI"/>
              </a:rPr>
              <a:t>Paste raw JD → see issues → quality 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660903"/>
            <a:ext cx="5120640" cy="65836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660903"/>
            <a:ext cx="36576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807207"/>
            <a:ext cx="347472" cy="347472"/>
          </a:xfrm>
          <a:prstGeom prst="rect">
            <a:avLst/>
          </a:prstGeom>
          <a:solidFill>
            <a:srgbClr val="25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779775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78BF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2715767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Candidate Rankings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008375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1A1AA"/>
                </a:solidFill>
                <a:latin typeface="Segoe UI"/>
              </a:rPr>
              <a:t>Filter, search, sort 100 ranked profiles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660903"/>
            <a:ext cx="5120640" cy="65836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2660903"/>
            <a:ext cx="36576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2807207"/>
            <a:ext cx="347472" cy="347472"/>
          </a:xfrm>
          <a:prstGeom prst="rect">
            <a:avLst/>
          </a:prstGeom>
          <a:solidFill>
            <a:srgbClr val="25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779775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78BFA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715767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Candidate Detail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008375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1A1AA"/>
                </a:solidFill>
                <a:latin typeface="Segoe UI"/>
              </a:rPr>
              <a:t>Score breakdown, career history, signals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447287"/>
            <a:ext cx="5120640" cy="65836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447287"/>
            <a:ext cx="36576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3593591"/>
            <a:ext cx="347472" cy="347472"/>
          </a:xfrm>
          <a:prstGeom prst="rect">
            <a:avLst/>
          </a:prstGeom>
          <a:solidFill>
            <a:srgbClr val="25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566159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78BFA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502151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Hidden Talent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3794759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1A1AA"/>
                </a:solidFill>
                <a:latin typeface="Segoe UI"/>
              </a:rPr>
              <a:t>7 overlooked high-fit candidates surfaced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3447287"/>
            <a:ext cx="5120640" cy="65836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72200" y="3447287"/>
            <a:ext cx="36576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3593591"/>
            <a:ext cx="347472" cy="347472"/>
          </a:xfrm>
          <a:prstGeom prst="rect">
            <a:avLst/>
          </a:prstGeom>
          <a:solidFill>
            <a:srgbClr val="25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3566159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78BFA"/>
                </a:solidFill>
                <a:latin typeface="Segoe U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3502151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Analytics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3794759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1A1AA"/>
                </a:solidFill>
                <a:latin typeface="Segoe UI"/>
              </a:rPr>
              <a:t>Score distribution, funnel, skill heatmap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233671"/>
            <a:ext cx="5120640" cy="65836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4233671"/>
            <a:ext cx="36576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" y="4379975"/>
            <a:ext cx="347472" cy="347472"/>
          </a:xfrm>
          <a:prstGeom prst="rect">
            <a:avLst/>
          </a:prstGeom>
          <a:solidFill>
            <a:srgbClr val="25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352543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78BFA"/>
                </a:solidFill>
                <a:latin typeface="Segoe UI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4288535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AI Copilot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4581143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1A1AA"/>
                </a:solidFill>
                <a:latin typeface="Segoe UI"/>
              </a:rPr>
              <a:t>Natural language queries over candidate pool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4233671"/>
            <a:ext cx="5120640" cy="65836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72200" y="4233671"/>
            <a:ext cx="36576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09360" y="4379975"/>
            <a:ext cx="347472" cy="347472"/>
          </a:xfrm>
          <a:prstGeom prst="rect">
            <a:avLst/>
          </a:prstGeom>
          <a:solidFill>
            <a:srgbClr val="25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4352543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78BFA"/>
                </a:solidFill>
                <a:latin typeface="Segoe U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4288535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Candidate Portal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0" y="4581143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1A1AA"/>
                </a:solidFill>
                <a:latin typeface="Segoe UI"/>
              </a:rPr>
              <a:t>Self-service resume analysis for applicants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36576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017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1A1AA"/>
                </a:solidFill>
                <a:latin typeface="Segoe UI"/>
              </a:rPr>
              <a:t>SKILLGRAPH AI · REDROB 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1A1AA"/>
                </a:solidFill>
                <a:latin typeface="Segoe UI"/>
              </a:rPr>
              <a:t>Production-grade components, zero proprietary lock-in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5715000" cy="201168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Segoe UI"/>
              </a:rPr>
              <a:t>AI /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sentence-transformers (SBERT)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all-MiniLM-L6-v2 (384-dim)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8036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BM25 (rank-bm25)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PyYAML-driven timeline knowledge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828800"/>
            <a:ext cx="5715000" cy="201168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965960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Segoe UI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33172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FastAPI + Uvicorn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60604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Pydantic v2 response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88036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python-multipart (form uploads)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15468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Async + streaming-ready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23360"/>
            <a:ext cx="5715000" cy="201168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60520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Segoe UI"/>
              </a:rP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2628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React 18 + TypeScript + Vite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80060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Framer Motion (animations)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7492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Recharts (analytics charts)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4924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TanStack Query v5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4023360"/>
            <a:ext cx="5715000" cy="201168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160520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4E4E7"/>
                </a:solidFill>
                <a:latin typeface="Segoe UI"/>
              </a:rPr>
              <a:t>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52628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JSONL candidate store (100K)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80060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CSV submission format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07492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Numpy embeddings cache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34924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In-memory DataStore singleton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36576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017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1A1AA"/>
                </a:solidFill>
                <a:latin typeface="Segoe UI"/>
              </a:rPr>
              <a:t>SKILLGRAPH AI · REDROB 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Candidate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1A1AA"/>
                </a:solidFill>
                <a:latin typeface="Segoe UI"/>
              </a:rPr>
              <a:t>Two-sided experience: recruiter dashboard + self-service candidate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303520" cy="420624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Segoe UI"/>
              </a:rPr>
              <a:t>Recruiter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Real-time ranked candidate feed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7-dimension score breakdown per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Side-by-side radar comparison (up to 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JD validation with live quality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29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Hidden gem discovery panel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Analytics: funnel, distribution,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AI Copilot — natural language queries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5303520" cy="420624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965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Segoe UI"/>
              </a:rPr>
              <a:t>Candidate Self-Assessment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Step 1: Browse open roles (job cards with skills)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606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Step 2: Upload or paste resume 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880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Step 3: Instant AI match score (0–1)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154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Strengths mapped to JD categories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429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Missing skills + transferable equivalents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703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Personalised project recommendations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977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Certification roadmap to close gaps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36576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017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1A1AA"/>
                </a:solidFill>
                <a:latin typeface="Segoe UI"/>
              </a:rPr>
              <a:t>SKILLGRAPH AI · REDROB 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Key Differentiators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1A1AA"/>
                </a:solidFill>
                <a:latin typeface="Segoe UI"/>
              </a:rPr>
              <a:t>Why SkillGraph outperforms naive ranking approaches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11064240" cy="65836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36576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5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Segoe UI"/>
              </a:rPr>
              <a:t>Semantic Equivalence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965959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1A1AA"/>
                </a:solidFill>
                <a:latin typeface="Segoe UI"/>
              </a:rPr>
              <a:t>SBERT embeddings match 'Chroma' to 'vector database' — Boolean search misses this entirely.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24327"/>
            <a:ext cx="11064240" cy="65836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24327"/>
            <a:ext cx="36576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15767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Segoe UI"/>
              </a:rPr>
              <a:t>Honeypot Filtering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715767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1A1AA"/>
                </a:solidFill>
                <a:latin typeface="Segoe UI"/>
              </a:rPr>
              <a:t>×0.04 penalty collapses scores of profiles with ≥12 rare skills + no GitHub + 0% response rate.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74135"/>
            <a:ext cx="11064240" cy="65836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374135"/>
            <a:ext cx="36576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65575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Segoe UI"/>
              </a:rPr>
              <a:t>JD-side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465575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1A1AA"/>
                </a:solidFill>
                <a:latin typeface="Segoe UI"/>
              </a:rPr>
              <a:t>Most tools only score candidates. We also validate and improve the job description first.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23943"/>
            <a:ext cx="11064240" cy="65836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123943"/>
            <a:ext cx="36576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15383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Segoe UI"/>
              </a:rPr>
              <a:t>Hidden Gem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215383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1A1AA"/>
                </a:solidFill>
                <a:latin typeface="Segoe UI"/>
              </a:rPr>
              <a:t>Explicit rule: score ≥0.63 AND growth ≥0.70 AND (low_contact OR open_to_work) AND rank&gt;20.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73751"/>
            <a:ext cx="11064240" cy="65836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873751"/>
            <a:ext cx="36576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965191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Segoe UI"/>
              </a:rPr>
              <a:t>Behavioral Signals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965191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1A1AA"/>
                </a:solidFill>
                <a:latin typeface="Segoe UI"/>
              </a:rPr>
              <a:t>Redrob's proprietary signals (response rate, days_since_active, interview completion) integrated as scoring layer.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623559"/>
            <a:ext cx="11064240" cy="65836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623559"/>
            <a:ext cx="36576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71499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Segoe UI"/>
              </a:rPr>
              <a:t>Career Growth Proxy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5714999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1A1AA"/>
                </a:solidFill>
                <a:latin typeface="Segoe UI"/>
              </a:rPr>
              <a:t>Detects IC progression vs consulting churn — penalises stagnant consulting-only trajectories.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36576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017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1A1AA"/>
                </a:solidFill>
                <a:latin typeface="Segoe UI"/>
              </a:rPr>
              <a:t>SKILLGRAPH AI · REDROB 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1A1AA"/>
                </a:solidFill>
                <a:latin typeface="Segoe UI"/>
              </a:rPr>
              <a:t>Path from prototype to production hiring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66160" cy="420624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Segoe UI"/>
              </a:rPr>
              <a:t>Phase 1
(Done)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7-layer ranking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FastAPI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React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Candidate portal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828800"/>
            <a:ext cx="3566160" cy="420624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965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Segoe UI"/>
              </a:rPr>
              <a:t>Phase 2
(Near-term)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31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FAISS ANN index for full 100K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606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LLM-powered JD rewriting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880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Email outreach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154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Resume PDF parsing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828800"/>
            <a:ext cx="3566160" cy="420624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965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Segoe UI"/>
              </a:rPr>
              <a:t>Phase 3
(Scale)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331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Multi-role concurrent campaigns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06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Bias detection + fairness 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880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Candidate tracking CRM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154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4E4E7"/>
                </a:solidFill>
                <a:latin typeface="Segoe UI"/>
              </a:rPr>
              <a:t>• Enterprise SSO / RBAC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6576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2525B"/>
                </a:solidFill>
                <a:latin typeface="Segoe U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36576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2525B"/>
                </a:solidFill>
                <a:latin typeface="Segoe UI"/>
              </a:rPr>
              <a:t>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Segoe UI"/>
              </a:rPr>
              <a:t>SkillGraph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1A1AA"/>
                </a:solidFill>
                <a:latin typeface="Segoe UI"/>
              </a:rPr>
              <a:t>Intelligent Candidate Discovery &amp;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2525B"/>
                </a:solidFill>
                <a:latin typeface="Segoe UI"/>
              </a:rPr>
              <a:t>Built for the Redrob AI Hackathon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78BFA"/>
                </a:solidFill>
                <a:latin typeface="Segoe UI"/>
              </a:rPr>
              <a:t>github.com/Tanishadot/Skillgraph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